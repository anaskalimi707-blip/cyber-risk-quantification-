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8BDF8"/>
                </a:solidFill>
              </a:defRPr>
            </a:pPr>
            <a:r>
              <a:t>CYBEROPTIX ENTERPRISE • CRIM-X APEX</a:t>
            </a:r>
          </a:p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</a:defRPr>
            </a:pPr>
            <a:r>
              <a:t>Know Your Cyber Risk in Money.</a:t>
            </a:r>
            <a:br/>
            <a:r>
              <a:t>Invest Where Every Rupee Reduces Risk.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Continuous Financial Cyber-Risk Quantification (CRQ), Causal DML &amp; Multi-Objective Capital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572000"/>
            <a:ext cx="32918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B7185"/>
                </a:solidFill>
              </a:defRPr>
            </a:pPr>
            <a:r>
              <a:t>₹8.60 Cr -&gt; ₹2.40 Cr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Expected Annual Loss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4572000"/>
            <a:ext cx="32918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47548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</a:defRPr>
            </a:pPr>
            <a:r>
              <a:t>2.8x Capital ROSI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Return on Security Investment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4572000"/>
            <a:ext cx="3291840" cy="1371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475488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BDF8"/>
                </a:solidFill>
              </a:defRPr>
            </a:pPr>
            <a:r>
              <a:t>SEBI &amp; NIST Aligned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FAIR + CSCRF Grounded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38BDF8"/>
                </a:solidFill>
              </a:defRPr>
            </a:pPr>
            <a:r>
              <a:t>MARKET DISCONNECT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The Trillion-Dollar Translation Gap in Enterprise Security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Why $200B in cybersecurity spending still fails to answer the Board's core fiduciary questions.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2900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B7185"/>
                </a:solidFill>
              </a:defRPr>
            </a:pPr>
            <a:r>
              <a:t>The CISO's Dilemma</a:t>
            </a:r>
          </a:p>
          <a:p>
            <a:pPr>
              <a:spcAft>
                <a:spcPts val="1600"/>
              </a:spcAft>
              <a:defRPr sz="1300">
                <a:solidFill>
                  <a:srgbClr val="F8FAFC"/>
                </a:solidFill>
              </a:defRPr>
            </a:pPr>
            <a:r>
              <a:t>Reports in technical CVEs &amp; subjective red/yellow/green heatmaps. Unable to express cybersecurity in capital or business terms to the Board.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Result: Misallocated capital, board blindness, and unchecked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42900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28600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BBF24"/>
                </a:solidFill>
              </a:defRPr>
            </a:pPr>
            <a:r>
              <a:t>The CFO's Dilemma</a:t>
            </a:r>
          </a:p>
          <a:p>
            <a:pPr>
              <a:spcAft>
                <a:spcPts val="1600"/>
              </a:spcAft>
              <a:defRPr sz="1300">
                <a:solidFill>
                  <a:srgbClr val="F8FAFC"/>
                </a:solidFill>
              </a:defRPr>
            </a:pPr>
            <a:r>
              <a:t>Approves spend with zero quantifiable ROI metrics. Security is perceived as an arbitrary insurance tax with no defensible proof of risk reduction.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Result: Misallocated capital, board blindness, and unchecked exposure.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011680"/>
            <a:ext cx="342900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2880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The Regulatory Crisis</a:t>
            </a:r>
          </a:p>
          <a:p>
            <a:pPr>
              <a:spcAft>
                <a:spcPts val="1600"/>
              </a:spcAft>
              <a:defRPr sz="1300">
                <a:solidFill>
                  <a:srgbClr val="F8FAFC"/>
                </a:solidFill>
              </a:defRPr>
            </a:pPr>
            <a:r>
              <a:t>SEBI CSCRF, DPDP Act, and SEC mandate quantified board-level oversight. Annual manual questionnaires fail to catch continuous exposure drift.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Result: Misallocated capital, board blindness, and unchecked exposure.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38BDF8"/>
                </a:solidFill>
              </a:defRPr>
            </a:pPr>
            <a:r>
              <a:t>PRODUCT BREAKTHROUGH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The CyberOptix Enterprise Solution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A single unified platform converting continuous telemetry into defensible financial risk &amp; capital plans.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578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4028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38BDF8"/>
                </a:solidFill>
              </a:defRPr>
            </a:pPr>
            <a:r>
              <a:t>Continuous FAIR Quantification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Ingests telemetry from Okta, Qualys, CrowdStrike, and AWS. Runs 50,000 Monte Carlo iterations in &lt;0.25s to output EAL &amp; VaR in INR Lakh/Crore.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11680"/>
            <a:ext cx="52578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24028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DD4BF"/>
                </a:solidFill>
              </a:defRPr>
            </a:pPr>
            <a:r>
              <a:t>Causal AI (CRIM-X DML)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Uses Robinson's Double Machine Learning to eliminate confounding bias and compute isolated causal risk reduction (ΔEAL) across 4,200 peer trials.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2578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43484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BBF24"/>
                </a:solidFill>
              </a:defRPr>
            </a:pPr>
            <a:r>
              <a:t>5D Pareto Capital Optimizer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Mixed-integer programming knapsack solver optimizing across Cost, Risk, Deployment SLA, Compliance Gain, and Disruption Index.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206240"/>
            <a:ext cx="52578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43484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B7185"/>
                </a:solidFill>
              </a:defRPr>
            </a:pPr>
            <a:r>
              <a:t>Grounded AI Copilot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Permission-checked natural language queries backed by an 11-tool API contract, cryptographic evidence citations, and strict human sign-off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38BDF8"/>
                </a:solidFill>
              </a:defRPr>
            </a:pPr>
            <a:r>
              <a:t>PROPRIETARY MOAT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CRIM-X Causal DML vs. Naive Correlation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Why observational correlation in legacy tools misleads CFOs, and how Causal DML solves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B7185"/>
                </a:solidFill>
              </a:defRPr>
            </a:pPr>
            <a:r>
              <a:t>Naive Observational Correlation (Legacy)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Claims: 'Deploying EDR reduced ransomware risk by 42%'.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Confounded by simultaneous IT initiatives (cloud migration, patch SLAs, hiring).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Double-counts overlapping control synergies.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Overestimates risk reduction by up to 2.4x.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Leads to bloated budgets on placebo controls.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DD4BF"/>
                </a:solidFill>
              </a:defRPr>
            </a:pPr>
            <a:r>
              <a:t>CRIM-X Causal Double Machine Learning (CyberOptix)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✓ Robinson's DML separates confounding using orthogonalized Random Forest residuals.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✓ Cross-fitting (5-fold) eliminates regularization and overfitting bias.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✓ Identifies true isolated causal effect theta (ΔEAL in INR).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✓ Surfaces causal identification strategy (natural experiment, instrumental variable).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✓ Delivers mathematically defensible numbers to CFOs.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38BDF8"/>
                </a:solidFill>
              </a:defRPr>
            </a:pPr>
            <a:r>
              <a:t>CAPITAL ALLOCATION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5D Multi-Objective Pareto Frontier Optimizer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Moving beyond simple cost-benefit to balance enterprise deployment realities.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DD4BF"/>
                </a:solidFill>
              </a:defRPr>
            </a:pPr>
            <a:r>
              <a:t>Balanced Frontier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Cost: ₹60 Lakh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Risk Cut: ₹2.10 Cr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ROSI: 2.8x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Optimal balance between spend, speed, and risk reduction.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19456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Rapid Sprint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Cost: ₹45 Lakh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Risk Cut: ₹1.65 Cr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ROSI: 3.1x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Fully deployable in under 21 days for urgent regulatory deadlines.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BF24"/>
                </a:solidFill>
              </a:defRPr>
            </a:pPr>
            <a:r>
              <a:t>Budget Minimalist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Cost: ₹25 Lakh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Risk Cut: ₹1.40 Cr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ROSI: 4.6x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Captures 68% of total risk reduction at only 25% of the capital budget.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194560"/>
            <a:ext cx="2194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B7185"/>
                </a:solidFill>
              </a:defRPr>
            </a:pPr>
            <a:r>
              <a:t>Max Reduction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Cost: ₹1.00 Cr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Risk Cut: ₹2.70 Cr</a:t>
            </a:r>
          </a:p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</a:defRPr>
            </a:pPr>
            <a:r>
              <a:t>ROSI: 2.1x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Exhaustive defense-in-depth minimizing residual financial exposure.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38BDF8"/>
                </a:solidFill>
              </a:defRPr>
            </a:pPr>
            <a:r>
              <a:t>MARKET DYNAMICS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$18.5B TAM Driven by Mandatory Regulatory Catalysts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Cyber risk quantification has transitioned from an elective exercise into a statutory imperative.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578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TOTAL ADDRESSABLE MARKET</a:t>
            </a:r>
          </a:p>
          <a:p>
            <a:pPr>
              <a:spcAft>
                <a:spcPts val="400"/>
              </a:spcAft>
              <a:defRPr sz="2200" b="1">
                <a:solidFill>
                  <a:srgbClr val="F8FAFC"/>
                </a:solidFill>
              </a:defRPr>
            </a:pPr>
            <a:r>
              <a:t>$18.5 Billion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Global Cyber Risk Quantification &amp; Security Analytics market by 2028 (CAGR 24.2%).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11680"/>
            <a:ext cx="52578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</a:defRPr>
            </a:pPr>
            <a:r>
              <a:t>SERVICEABLE ADDRESSABLE MARKET</a:t>
            </a:r>
          </a:p>
          <a:p>
            <a:pPr>
              <a:spcAft>
                <a:spcPts val="400"/>
              </a:spcAft>
              <a:defRPr sz="2200" b="1">
                <a:solidFill>
                  <a:srgbClr val="F8FAFC"/>
                </a:solidFill>
              </a:defRPr>
            </a:pPr>
            <a:r>
              <a:t>$4.2 Billion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BFSI, FinTech, Critical Infrastructure, and Healthcare across APAC, North America, and EMEA.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2578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REGULATORY DRIVER: SEBI CSCRF</a:t>
            </a:r>
          </a:p>
          <a:p>
            <a:pPr>
              <a:spcAft>
                <a:spcPts val="400"/>
              </a:spcAft>
              <a:defRPr sz="2200" b="1">
                <a:solidFill>
                  <a:srgbClr val="F8FAFC"/>
                </a:solidFill>
              </a:defRPr>
            </a:pPr>
            <a:r>
              <a:t>Mandatory (2024–26)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Mandates quantifiable cyber resilience limits, continuous telemetry, and third-party risk audits.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206240"/>
            <a:ext cx="52578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3891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7185"/>
                </a:solidFill>
              </a:defRPr>
            </a:pPr>
            <a:r>
              <a:t>REGULATORY DRIVER: DPDP ACT 2023</a:t>
            </a:r>
          </a:p>
          <a:p>
            <a:pPr>
              <a:spcAft>
                <a:spcPts val="400"/>
              </a:spcAft>
              <a:defRPr sz="2200" b="1">
                <a:solidFill>
                  <a:srgbClr val="F8FAFC"/>
                </a:solidFill>
              </a:defRPr>
            </a:pPr>
            <a:r>
              <a:t>Up to ₹250 Cr Fines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Severe statutory penalties per data breach scenario in India, demanding precise risk quantification.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38BDF8"/>
                </a:solidFill>
              </a:defRPr>
            </a:pPr>
            <a:r>
              <a:t>COMPETITIVE LANDSCAPE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Why CyberOptix Wins Against Incumbents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Side-by-side comparison across quantification, causal rigor, and capital optimization.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20240"/>
          <a:ext cx="1072865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  <a:gridCol w="1920240"/>
                <a:gridCol w="1920240"/>
                <a:gridCol w="1858975"/>
              </a:tblGrid>
              <a:tr h="70104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CyberOptix (CRIM-X)</a:t>
                      </a:r>
                    </a:p>
                  </a:txBody>
                  <a:tcPr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Safe Security (RiskLens)</a:t>
                      </a:r>
                    </a:p>
                  </a:txBody>
                  <a:tcPr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Kovrr</a:t>
                      </a:r>
                    </a:p>
                  </a:txBody>
                  <a:tcPr>
                    <a:solidFill>
                      <a:srgbClr val="121D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8FAFC"/>
                          </a:solidFill>
                        </a:defRPr>
                      </a:pPr>
                      <a:r>
                        <a:t>Legacy GRC (Archer)</a:t>
                      </a:r>
                    </a:p>
                  </a:txBody>
                  <a:tcPr>
                    <a:solidFill>
                      <a:srgbClr val="121D3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Quantification Engine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Continuous FAIR + MC</a:t>
                      </a:r>
                    </a:p>
                  </a:txBody>
                  <a:tcPr>
                    <a:solidFill>
                      <a:srgbClr val="0C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FAIR / Monte Carlo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Proprietary Statistical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Subjective 5x5 Heatmaps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Causal Machine Learning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Causal DML (No Bias)</a:t>
                      </a:r>
                    </a:p>
                  </a:txBody>
                  <a:tcPr>
                    <a:solidFill>
                      <a:srgbClr val="0C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Naive Correlation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Industry Averages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Capital Optimizer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5D Pareto Multi-Objective</a:t>
                      </a:r>
                    </a:p>
                  </a:txBody>
                  <a:tcPr>
                    <a:solidFill>
                      <a:srgbClr val="0C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Simple Knapsack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Scenario Comparison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Static Task List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Currency Denomination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Native INR (Lakh/Cr)</a:t>
                      </a:r>
                    </a:p>
                  </a:txBody>
                  <a:tcPr>
                    <a:solidFill>
                      <a:srgbClr val="0C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USD Only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USD / 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No Financial Values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Tamper-Evident Proof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SHA-256 Chained Hash</a:t>
                      </a:r>
                    </a:p>
                  </a:txBody>
                  <a:tcPr>
                    <a:solidFill>
                      <a:srgbClr val="0C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No Cryptographic Proof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Modifiable Database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38BDF8"/>
                </a:solidFill>
              </a:defRPr>
            </a:pPr>
            <a:r>
              <a:t>GO-TO-MARKET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Predictable Enterprise SaaS Unit Economics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Tiered annual contract values (ACV) delivering high retention and rapid payback.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2900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38BDF8"/>
                </a:solidFill>
              </a:defRPr>
            </a:pPr>
            <a:r>
              <a:t>Enterprise Core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₹18 Lakh / yr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($22K ARR)</a:t>
            </a:r>
          </a:p>
          <a:p>
            <a:pPr>
              <a:spcAft>
                <a:spcPts val="1600"/>
              </a:spcAft>
              <a:defRPr sz="1200">
                <a:solidFill>
                  <a:srgbClr val="F8FAFC"/>
                </a:solidFill>
              </a:defRPr>
            </a:pPr>
            <a:r>
              <a:t>Continuous FAIR Engine, NIST/SEBI mapping, 10 telemetry connectors, PDF executive briefs.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Target Metrics:</a:t>
            </a:r>
            <a:br/>
            <a:r>
              <a:t>• 135%+ Net Revenue Retention</a:t>
            </a:r>
            <a:br/>
            <a:r>
              <a:t>• 82% Gross Margin</a:t>
            </a:r>
            <a:br/>
            <a:r>
              <a:t>• 7.2 Mo CAC Payback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42900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19456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2DD4BF"/>
                </a:solidFill>
              </a:defRPr>
            </a:pPr>
            <a:r>
              <a:t>Enterprise Apex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₹38 Lakh / yr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($46K ARR)</a:t>
            </a:r>
          </a:p>
          <a:p>
            <a:pPr>
              <a:spcAft>
                <a:spcPts val="1600"/>
              </a:spcAft>
              <a:defRPr sz="1200">
                <a:solidFill>
                  <a:srgbClr val="F8FAFC"/>
                </a:solidFill>
              </a:defRPr>
            </a:pPr>
            <a:r>
              <a:t>Full CRIM-X Causal DML, 5D Pareto Optimizer, Grounded AI Copilot, unlimited connectors.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Target Metrics:</a:t>
            </a:r>
            <a:br/>
            <a:r>
              <a:t>• 135%+ Net Revenue Retention</a:t>
            </a:r>
            <a:br/>
            <a:r>
              <a:t>• 82% Gross Margin</a:t>
            </a:r>
            <a:br/>
            <a:r>
              <a:t>• 7.2 Mo CAC Payback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011680"/>
            <a:ext cx="342900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FBBF24"/>
                </a:solidFill>
              </a:defRPr>
            </a:pPr>
            <a:r>
              <a:t>Global Financial Tier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₹65 Lakh / yr</a:t>
            </a:r>
          </a:p>
          <a:p>
            <a:pPr>
              <a:spcAft>
                <a:spcPts val="1200"/>
              </a:spcAft>
              <a:defRPr sz="1200">
                <a:solidFill>
                  <a:srgbClr val="94A3B8"/>
                </a:solidFill>
              </a:defRPr>
            </a:pPr>
            <a:r>
              <a:t>($78K ARR)</a:t>
            </a:r>
          </a:p>
          <a:p>
            <a:pPr>
              <a:spcAft>
                <a:spcPts val="1600"/>
              </a:spcAft>
              <a:defRPr sz="1200">
                <a:solidFill>
                  <a:srgbClr val="F8FAFC"/>
                </a:solidFill>
              </a:defRPr>
            </a:pPr>
            <a:r>
              <a:t>Unlimited assets, on-premise/hybrid deployment, dedicated actuarial calibration, custom SLAs.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Target Metrics:</a:t>
            </a:r>
            <a:br/>
            <a:r>
              <a:t>• 135%+ Net Revenue Retention</a:t>
            </a:r>
            <a:br/>
            <a:r>
              <a:t>• 82% Gross Margin</a:t>
            </a:r>
            <a:br/>
            <a:r>
              <a:t>• 7.2 Mo CAC Payback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38BDF8"/>
                </a:solidFill>
              </a:defRPr>
            </a:pPr>
            <a:r>
              <a:t>EXECUTION RIGOR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Built &amp; Validated to Institutional Standards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Production-grade codebase with zero-regression automated test coverage.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2578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DD4BF"/>
                </a:solidFill>
              </a:defRPr>
            </a:pPr>
            <a:r>
              <a:t>41/41 Tests Passing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Complete automated pytest suite verifying FAIR engine, PuLP optimizer, CRIM-X causal models, and RBAC APIs.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11680"/>
            <a:ext cx="52578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38BDF8"/>
                </a:solidFill>
              </a:defRPr>
            </a:pPr>
            <a:r>
              <a:t>&lt;0.25s Calculation Speed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Vectorized NumPy Monte Carlo engine simulates 50,000 trials in real-time, enabling live what-if sliders.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52578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BBF24"/>
                </a:solidFill>
              </a:defRPr>
            </a:pPr>
            <a:r>
              <a:t>74 kB Frontend Chunk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Vite code-splitting with Gzip compression and lazy loading delivers instant sub-second page 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206240"/>
            <a:ext cx="5257800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3891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B7185"/>
                </a:solidFill>
              </a:defRPr>
            </a:pPr>
            <a:r>
              <a:t>Full Docker Stack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Docker Compose, Nginx reverse proxy, async SQLite/PostgreSQL, and mobile PWA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38BDF8"/>
                </a:solidFill>
              </a:defRPr>
            </a:pPr>
            <a:r>
              <a:t>INVESTMENT ASK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Join Us in Defining the Future of Cyber Risk Capital</a:t>
            </a:r>
          </a:p>
          <a:p>
            <a:pPr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Raising $2.5M Seed Extension to dominate the APAC &amp; global financial cyber risk quantification market.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</a:defRPr>
            </a:pPr>
            <a:r>
              <a:t>$2.5M Capital Allocation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45% Engineering &amp; Causal AI: Expand consortium peer telemetry to 25,000 cross-industry trials.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35% Direct Sales &amp; Enterprise GTM: Scale enterprise direct sales across BFSI and critical infrastructure in India &amp; APAC.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20% Regulatory Accreditation: Formal SEBI, RBI, and NIST certification partnerships.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DD4BF"/>
                </a:solidFill>
              </a:defRPr>
            </a:pPr>
            <a:r>
              <a:t>Contact &amp; Live Platform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Live Enterprise Platform: 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https://cyberoptix.onrender.com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Interactive Swagger Docs: 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https://cyberoptix.onrender.com/docs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Executive Contact: 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partners@cyberoptix.ai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Corporate Headquarters: 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Bengaluru &amp; Mumbai, India</a:t>
            </a:r>
          </a:p>
          <a:p>
            <a:pPr>
              <a:defRPr sz="1200" b="1">
                <a:solidFill>
                  <a:srgbClr val="94A3B8"/>
                </a:solidFill>
              </a:defRPr>
            </a:pPr>
            <a:r>
              <a:t>Regulatory Grounding: 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t>SEBI CSCRF • NIST CSF 2.0 • FAIR™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